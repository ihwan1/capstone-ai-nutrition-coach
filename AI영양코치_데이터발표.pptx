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44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752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B8A6"/>
                </a:solidFill>
              </a:rPr>
              <a:t>AI 빅데이터과 캡스톤디자인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맞춤형 AI 영양 코치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9ECEC9"/>
                </a:solidFill>
              </a:rPr>
              <a:t>데이터 소개 및 전처리 파이프라인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3657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데이터 출처  </a:t>
            </a:r>
            <a:r>
              <a:rPr lang="en-US" sz="1300" dirty="0">
                <a:solidFill>
                  <a:srgbClr val="CCCCCC"/>
                </a:solidFill>
              </a:rPr>
              <a:t>식품의약품안전처(식약처) 공식 영양성분 DB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1148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총 데이터  </a:t>
            </a:r>
            <a:r>
              <a:rPr lang="en-US" sz="1300" dirty="0">
                <a:solidFill>
                  <a:srgbClr val="CCCCCC"/>
                </a:solidFill>
              </a:rPr>
              <a:t>241,591건  </a:t>
            </a:r>
            <a:r>
              <a:rPr lang="en-US" sz="1300" b="1" dirty="0">
                <a:solidFill>
                  <a:srgbClr val="14B8A6"/>
                </a:solidFill>
              </a:rPr>
              <a:t>│  벡터 DB  </a:t>
            </a:r>
            <a:r>
              <a:rPr lang="en-US" sz="1300" dirty="0">
                <a:solidFill>
                  <a:srgbClr val="CCCCCC"/>
                </a:solidFill>
              </a:rPr>
              <a:t>ChromaDB  </a:t>
            </a:r>
            <a:r>
              <a:rPr lang="en-US" sz="1300" b="1" dirty="0">
                <a:solidFill>
                  <a:srgbClr val="14B8A6"/>
                </a:solidFill>
              </a:rPr>
              <a:t>│  LLM  </a:t>
            </a:r>
            <a:r>
              <a:rPr lang="en-US" sz="1300" dirty="0">
                <a:solidFill>
                  <a:srgbClr val="CCCCCC"/>
                </a:solidFill>
              </a:rPr>
              <a:t>Google Gemini RAG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왜 식약처 데이터를 선택했나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96596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716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20116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2332"/>
                </a:solidFill>
              </a:rPr>
              <a:t>공신력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74320" y="2560320"/>
            <a:ext cx="1965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정부 공식 기관 데이터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신뢰할 수 있는 영양 정보 제공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50592" y="1188720"/>
            <a:ext cx="1965960" cy="3474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13716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7F3D0"/>
                </a:solidFill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50592" y="20116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규모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450592" y="2560320"/>
            <a:ext cx="1965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BF1"/>
                </a:solidFill>
              </a:rPr>
              <a:t>241,591건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CFBF1"/>
                </a:solidFill>
              </a:rPr>
              <a:t>가공식품·외식·농산물 포함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26864" y="1188720"/>
            <a:ext cx="196596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3716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26864" y="20116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2332"/>
                </a:solidFill>
              </a:rPr>
              <a:t>상세성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26864" y="2560320"/>
            <a:ext cx="1965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150개 이상 영양소 항목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칼로리·탄단지·비타민·미네랄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03136" y="1188720"/>
            <a:ext cx="196596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03136" y="13716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03136" y="20116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2332"/>
                </a:solidFill>
              </a:rPr>
              <a:t>접근성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803136" y="2560320"/>
            <a:ext cx="1965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공공데이터포털 API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무료 개방 데이터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원본 데이터 구조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</a:rPr>
              <a:t>식약처 DB는 150개 이상의 컬럼을 포함 — 프로젝트에 필요한 핵심 5개 컬럼만 추출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✅  선택된 핵심 컬럼 (5개)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3749040" cy="402336"/>
          </a:xfrm>
          <a:prstGeom prst="rect">
            <a:avLst/>
          </a:prstGeom>
          <a:solidFill>
            <a:srgbClr val="F0FDF9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965960"/>
            <a:ext cx="54864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116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</a:rPr>
              <a:t>식품명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441448"/>
            <a:ext cx="37490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441448"/>
            <a:ext cx="54864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871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</a:rPr>
              <a:t>에너지(kcal)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916936"/>
            <a:ext cx="3749040" cy="402336"/>
          </a:xfrm>
          <a:prstGeom prst="rect">
            <a:avLst/>
          </a:prstGeom>
          <a:solidFill>
            <a:srgbClr val="F0FDF9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916936"/>
            <a:ext cx="54864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6265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</a:rPr>
              <a:t>탄수화물(g)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392424"/>
            <a:ext cx="37490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392424"/>
            <a:ext cx="54864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43814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</a:rPr>
              <a:t>단백질(g)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867912"/>
            <a:ext cx="3749040" cy="402336"/>
          </a:xfrm>
          <a:prstGeom prst="rect">
            <a:avLst/>
          </a:prstGeom>
          <a:solidFill>
            <a:srgbClr val="F0FDF9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867912"/>
            <a:ext cx="54864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136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</a:rPr>
              <a:t>지방(g)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16002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</a:rPr>
              <a:t>제외된 컬럼 (145개+)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965960"/>
            <a:ext cx="393192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9933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당류(g)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350008"/>
            <a:ext cx="3931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나트륨(mg)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2734056"/>
            <a:ext cx="393192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761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칼슘(mg)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3118104"/>
            <a:ext cx="3931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1455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비타민A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3502152"/>
            <a:ext cx="393192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5295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콜레스테롤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3886200"/>
            <a:ext cx="3931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3913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포화지방산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54880" y="4270248"/>
            <a:ext cx="393192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식이섬유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54880" y="4654296"/>
            <a:ext cx="3931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4681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...외 145개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전처리 파이프라인 4단계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201168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143000"/>
            <a:ext cx="201168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234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STEP 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1920240"/>
            <a:ext cx="640080" cy="64008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659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" y="2697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2"/>
                </a:solidFill>
              </a:rPr>
              <a:t>핵심 컬럼 추출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324612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150개+ 컬럼 → 5개 핵심 컬럼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(식품명·kcal·탄수화물·단백질·지방)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40280" y="2377440"/>
            <a:ext cx="1828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1143000"/>
            <a:ext cx="201168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23160" y="1143000"/>
            <a:ext cx="201168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1234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STEP 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108960" y="1920240"/>
            <a:ext cx="640080" cy="64008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19659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68880" y="2697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2"/>
                </a:solidFill>
              </a:rPr>
              <a:t>결측치 처리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68880" y="324612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NaN/Null 행 dropna 제거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편향(Bias) 없는 데이터 확보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2377440"/>
            <a:ext cx="1828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1143000"/>
            <a:ext cx="201168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1143000"/>
            <a:ext cx="201168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1234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STEP 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03520" y="1920240"/>
            <a:ext cx="640080" cy="64008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0" y="19659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663440" y="2697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2"/>
                </a:solidFill>
              </a:rPr>
              <a:t>100g 기준 통일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63440" y="324612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1인분·1개 등 혼재 기준량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→ 100g 기준으로 정규화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29400" y="2377440"/>
            <a:ext cx="1828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12280" y="1143000"/>
            <a:ext cx="201168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12280" y="1143000"/>
            <a:ext cx="201168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12280" y="1234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STEP 4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498080" y="1920240"/>
            <a:ext cx="640080" cy="64008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19659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858000" y="2697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2"/>
                </a:solidFill>
              </a:rPr>
              <a:t>임베딩 &amp; 배치 적재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58000" y="324612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ko-sroberta 한국어 임베딩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1,000개 단위 배치 → ChromaDB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데이터 활용 구조 — RAG 파이프라인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920240" cy="2286000"/>
          </a:xfrm>
          <a:prstGeom prst="rect">
            <a:avLst/>
          </a:prstGeom>
          <a:solidFill>
            <a:srgbClr val="E0F2FE"/>
          </a:solidFill>
          <a:ln w="19050">
            <a:solidFill>
              <a:srgbClr val="7DD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4A6E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783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4A6E"/>
                </a:solidFill>
              </a:rPr>
              <a:t>사용자 입력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22860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C4A6E"/>
                </a:solidFill>
              </a:rPr>
              <a:t>자연어 음식 입력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C4A6E"/>
                </a:solidFill>
              </a:rPr>
              <a:t>"삼겹살 1인분 먹었어"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94560" y="2331720"/>
            <a:ext cx="25603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50592" y="1188720"/>
            <a:ext cx="1920240" cy="2286000"/>
          </a:xfrm>
          <a:prstGeom prst="rect">
            <a:avLst/>
          </a:prstGeom>
          <a:solidFill>
            <a:srgbClr val="F0FDF9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96312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4E3B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50592" y="1783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4E3B"/>
                </a:solidFill>
              </a:rPr>
              <a:t>벡터 검색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50592" y="22860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64E3B"/>
                </a:solidFill>
              </a:rPr>
              <a:t>ChromaDB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64E3B"/>
                </a:solidFill>
              </a:rPr>
              <a:t>의미 기반 유사 식품 검색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70832" y="2331720"/>
            <a:ext cx="25603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26864" y="1188720"/>
            <a:ext cx="1920240" cy="2286000"/>
          </a:xfrm>
          <a:prstGeom prst="rect">
            <a:avLst/>
          </a:prstGeom>
          <a:solidFill>
            <a:srgbClr val="FEF9C3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2584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13F12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26864" y="1783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13F12"/>
                </a:solidFill>
              </a:rPr>
              <a:t>RAG 주입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26864" y="22860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ko-KR" altLang="en-US" sz="1100" smtClean="0">
                <a:solidFill>
                  <a:srgbClr val="713F12"/>
                </a:solidFill>
              </a:rPr>
              <a:t>확실한 영양정보</a:t>
            </a:r>
            <a:r>
              <a:rPr lang="en-US" sz="1100" smtClean="0">
                <a:solidFill>
                  <a:srgbClr val="713F12"/>
                </a:solidFill>
              </a:rPr>
              <a:t>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13F12"/>
                </a:solidFill>
              </a:rPr>
              <a:t>Gemini 프롬프트에 주입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47104" y="2331720"/>
            <a:ext cx="25603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03136" y="1188720"/>
            <a:ext cx="1920240" cy="2286000"/>
          </a:xfrm>
          <a:prstGeom prst="rect">
            <a:avLst/>
          </a:prstGeom>
          <a:solidFill>
            <a:srgbClr val="F0FDF9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48856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4E3B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03136" y="1783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4E3B"/>
                </a:solidFill>
              </a:rPr>
              <a:t>AI 응답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03136" y="22860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64E3B"/>
                </a:solidFill>
              </a:rPr>
              <a:t>개인 목표 맞춤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64E3B"/>
                </a:solidFill>
              </a:rPr>
              <a:t>영양 코칭 피드백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749040"/>
            <a:ext cx="8595360" cy="914400"/>
          </a:xfrm>
          <a:prstGeom prst="rect">
            <a:avLst/>
          </a:prstGeom>
          <a:solidFill>
            <a:srgbClr val="F0FDF9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749040"/>
            <a:ext cx="7315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840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핵심 장점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4160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식약처 공식 DB 팩트 기반 답변 → 환각(Hallucination) 없는 정확한 영양 정보 제공  |  한국어 특화 임베딩으로 유사 식품 정확 검색  |  241,591건 DB 실시간 검색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한계점 및 향후 개선 방향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859536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73152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</a:rPr>
              <a:t>섭취량 불확실성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사용자가 정확한 양을 입력하지 않으면 AI가 1인분으로 가정 → 오차 발생 가능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90195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9488"/>
                </a:solidFill>
              </a:rPr>
              <a:t>→ 분량 선택 UI (소량/1인분/곱빼기) 추가 예정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423160"/>
            <a:ext cx="859536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423160"/>
            <a:ext cx="73152" cy="1051560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14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</a:rPr>
              <a:t>외식 메뉴 커버리지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8346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배달앱·프랜차이즈 메뉴는 식약처 DB에 없거나 부정확할 수 있음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13639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9488"/>
                </a:solidFill>
              </a:rPr>
              <a:t>→ 외식 영양성분 자료집 DB 추가 통합 예정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657600"/>
            <a:ext cx="859536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657600"/>
            <a:ext cx="73152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</a:rPr>
              <a:t>기준량 혼재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406908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100g 기준 통일 후에도 일부 항목 기준량 오차 존재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37083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9488"/>
                </a:solidFill>
              </a:rPr>
              <a:t>→ serving_size 메타데이터 정교화 및 프롬프트 보완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391</Words>
  <Application>Microsoft Office PowerPoint</Application>
  <PresentationFormat>화면 슬라이드 쇼(16:9)</PresentationFormat>
  <Paragraphs>95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맞춤형 AI 영양 코치 - 데이터 발표</dc:title>
  <dc:subject>PptxGenJS Presentation</dc:subject>
  <dc:creator>PptxGenJS</dc:creator>
  <cp:lastModifiedBy>안이건</cp:lastModifiedBy>
  <cp:revision>2</cp:revision>
  <dcterms:created xsi:type="dcterms:W3CDTF">2026-04-09T14:16:34Z</dcterms:created>
  <dcterms:modified xsi:type="dcterms:W3CDTF">2026-04-09T15:26:04Z</dcterms:modified>
</cp:coreProperties>
</file>